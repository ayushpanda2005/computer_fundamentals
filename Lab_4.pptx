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5" r:id="rId7"/>
    <p:sldId id="259" r:id="rId8"/>
    <p:sldId id="260" r:id="rId9"/>
    <p:sldId id="261" r:id="rId10"/>
    <p:sldId id="263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5:54:35.8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1 307 24575,'2'0'0,"0"1"0,-1-1 0,1 1 0,0 0 0,0 0 0,-1 0 0,1 0 0,-1 0 0,1 0 0,-1 0 0,1 1 0,1 1 0,0-1 0,7 9 0,0 0 0,0 1 0,-1 0 0,0 0 0,-1 1 0,6 14 0,6 8 0,-17-30 0,1 0 0,0 0 0,0 0 0,0-1 0,0 1 0,1-1 0,0 0 0,0 0 0,0-1 0,9 6 0,-5-5 0,-1 0 0,1-1 0,0 0 0,0-1 0,0 0 0,15 2 0,-4-3 0,1-1 0,0-1 0,-1 0 0,1-2 0,38-9 0,-19 0 0,62-26 0,37-28 0,-82 38 0,350-183 0,-149 74 0,-246 130-455,1 2 0,13-6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5:54:38.93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5:57:49.44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7153 696 24567,'-3'27'0,"-5"0"0,-6 0 0,-5 1 0,-6-2 0,-5 1 0,-5-1 0,-6 1 0,-5-2 0,-5 1 0,-6-1 0,-4-1 0,-5 0 0,-5 0 0,-5-1 0,-4-1 0,-5 0 0,-4-1 0,-4 0 0,-5-2 0,-3 0 0,-4-1 0,-3 0 0,-4-2 0,-4 0 0,-2-1 0,-3-2 0,-3 0 0,-2-1 0,-3-1 0,-2-1 0,-1-1 0,-3-1 0,-1-1 0,-1-1 0,-1-2 0,-1 0 0,-1-1 0,0-2 0,0 0 0,-1-2 0,1 0 0,0-2 0,1-1 0,1 0 0,1-2 0,1-1 0,1-1 0,3-1 0,1-1 0,2-1 0,3-1 0,2-1 0,3 0 0,3-2 0,2-1 0,4 0 0,4-2 0,3 0 0,4-1 0,3 0 0,5-2 0,4 0 0,4-1 0,5 0 0,4-1 0,5-1 0,5 0 0,5 0 0,4-1 0,6-1 0,5 1 0,5-2 0,6 1 0,5-1 0,5 1 0,6-2 0,5 1 0,6 0 0,5 0 0,6-1 0,5 1 0,6 0 0,5 0 0,6 0 0,5 0 0,5 1 0,6 0 0,5 0 0,5 1 0,6 0 0,4 0 0,5 1 0,5 0 0,5 1 0,4 1 0,5 0 0,4 1 0,4 1 0,5 0 0,3 1 0,4 1 0,3 1 0,4 0 0,4 2 0,2 0 0,3 1 0,3 1 0,2 1 0,3 1 0,2 1 0,1 2 0,3 0 0,1 1 0,1 1 0,1 1 0,1 1 0,1 2 0,0 0 0,1 2 0,-1 0 0,0 2 0,0 0 0,-1 2 0,-1 1 0,-1 1 0,-1 1 0,-1 1 0,-3 0 0,-1 2 0,-2 1 0,-3 1 0,-2 1 0,-3 1 0,-3 1 0,-2 0 0,-4 2 0,-4 0 0,-3 1 0,-4 1 0,-3 1 0,-5 0 0,-4 1 0,-4 1 0,-5 0 0,-4 1 0,-5 1 0,-5 0 0,-5 1 0,-4 0 0,-6 0 0,-5 1 0,-5 0 0,-6 0 0,-5 1 0,-5 0 0,-6 0 0,-5 0 0,-6 0 0,-5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5:58:40.243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1 171 24575,'35'-7'0,"123"-16"0,47-5 0,-77 13-22,437-43-397,2 27 95,-100 31 324,-385-5-1238,-58 2-4950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01:23.62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17,'97'5,"-31"0,61 3,216 0,-117-25,185-7,-367 23,308 1,-294 6,97 22,-27-3,395 56,-264-19,16 2,-165-51,0-4,1-6,205-19,156-54,-361 51,208-10,117 29,-188 3,-199-3,-30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01:24.72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0 116,'612'26,"-406"-2,-1 9,330 97,-496-118,245 71,-224-69,1-2,110 5,12-2,-13 0,7-13,0-8,176-29,208-69,-41 5,123 35,5 50,-33 1,5-75,-205 21,-341 60,-54 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01:49.70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1,'81'0,"168"2,0 21,103 57,-9 28,108 28,-155-77,-244-53,0-2,0-3,91-9,-10-14,-19 2,-93 18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02:04.78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1 131,'13'0,"-1"-1,1-1,15-4,4 0,410-68,-318 56,230-5,187 46,-318-9,617 0,-737-14,57 3,-1 8,169 32,112 13,-269-37,74-5,-1-15,-79-1,410-7,-431 5,141-11,-54-18,-31 5,-166 24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02:07.04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81,'311'41,"2"-24,-172-11,956 9,-910-22,339-57,-351 38,334-5,-412 30,267-7,346 0,-442 10,173-11,8 1,-438 8,725 18,-318 20,-203-21,-112-9,21 6,40 3,10-17,92 7,-7 3,-251-10,0 1,15 1,-11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22:55.43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1,'469'24,"-4"28,-173-16,83 14,-267-35,0-5,145-3,188-19,-343 8,2 1,143-24,-163 11,60-11,146-9,429 14,303 49,-762-5,174 7,-315-25,309 10,-1 21,94 21,4-33,633-25,-727 3,-160 7,-49 0,-193-8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22:57.00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17,'77'-8,"85"4,-85 3,963-3,-224 45,-740-36,412 38,97 7,-67-58,-5-53,-418 48,38-7,-120 18,1 1,-1 0,1 1,-1 1,0 0,1 1,-1 0,0 1,23 8,-23-6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22:59.97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50,'1114'-28,"-250"6,-1 61,-496 2,27 3,3-21,-88-31,-82-1,41 14,-184 2,97 20,-151-22,86 21,-98-21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6:34:21.5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1006 24575,'12'18'0,"1"-1"0,17 19 0,-8-12 0,56 62-1058,171 144-1,-171-169 404,3-3 1,143 77-1,-178-112 632,1-2-1,1-1 0,1-3 1,88 19-1,-104-31 11,-1 0 0,1-3 0,0 0 0,0-2 0,-1-2 0,1-1 0,0-1 0,50-14 0,-40 4-64,0-3-1,-2-1 1,0-1 0,-1-3 0,-1-1 0,-1-2 0,47-41-1,-8-1-127,-4-4-1,76-93 0,84-139-298,-17-12-518,112-150 130,-243 359 1063,-14 26-564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6:38:51.58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1097,'36'-17,"1"3,39-10,-6 1,-41 13,-1-1,-1-2,31-17,-38 18,0 1,0 0,1 2,35-11,98-18,-120 32,1 1,55 0,346 8,-409-2,-1 2,43 9,12 2,147 17,-208-28,0 1,-1 1,23 8,18 6,199 39,-225-52,0-1,1-2,46-2,106-14,157-43,-93 12,-176 34,105 1,-6 11,214-3,-356-1,-1-1,36-9,59-20,6-2,45-9,86-16,220 20,-470 38,30 0,0 1,70 9,-100-5,0 0,0 1,0 0,0 1,-1 0,23 16,-15-9,25 12,181 86,-193-93,1-1,37 11,75 18,67 28,-171-58,50 12,-85-26,22 5,51 4,-47-7,26 0,1-2,98-10,-14 0,438 6,-301 3,33 14,-286-10,-1 0,0 2,0 1,0 1,29 14,-35-15,-1-1,1-1,0-1,0-1,26 2,109-2,-116-5,-13 1,0-1,0-2,0-1,-1-1,0-1,0-1,33-14,87-26,-75 26,-55 16,112-38,-101 33,-1-2,43-26,-12-2,-35 23,1 2,0 0,1 2,26-11,-36 19,0 1,0 1,1 0,18-1,60 1,-87 3,27 2,0 1,-1 2,1 2,40 12,31 7,-69-19,-1-1,69 2,-62-6,71 11,-45-3,303 13,-57-14,243-2,-351-8,-204 1,2 0,1 0,0 0,-1 0,1 0,-1-1,8-2,-11 3,0 0,0 0,1 0,-1 0,0 0,0-1,0 1,1 0,-1 0,0 0,0 0,0-1,0 1,0 0,1 0,-1-1,0 1,0 0,0 0,0-1,0 1,0 0,0 0,0 0,0-1,0 1,0 0,0 0,0-1,0 1,0 0,0 0,0-1,0 1,0 0,0 0,-1-1,1 1,0 0,-1-2,-1 0,0 0,0 0,1 0,-1 0,0 1,-4-3,-30-19,-1 2,-40-16,53 25,-131-60,-527-233,-293-135,939 422,23 10,0 2,-1-1,0 2,0 0,0 0,-17-2,21 7,0 1,0 0,1 0,-1 1,0 0,1 1,-18 7,8-2,-30 18,-5 3,-5 1,-94 64,47-26,-33 6,43-24,39-21,-1-3,-113 35,113-45,0-4,-1-1,-65 1,-182-9,239-9,1-3,-74-20,71 14,-165-48,4-16,82 28,-109-43,40 15,160 61,-1 2,-1 3,0 3,0 2,-97 0,-515 11,-75 47,265 24,230-30,104-21,-239 37,184-26,-95 11,-270-37,365-10,112 1,-657 11,241 6,260 3,-21 2,78-9,82 3,89-13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CA90E-9CC7-96A5-8321-AFA652A4A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35669A-71C9-C6B8-101A-A617E0479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DF70-2C03-11BA-5320-38CCE6BC4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D8C0D-2A97-CDE7-EA79-2267D8D4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12542-B769-1000-020E-F3CEEF03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023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E026-DA90-A1BC-B54B-D5C0B97C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50FE8-3128-7C24-9EBF-114E3FC02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6E887-7317-EF15-6D71-39015982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6ABD5-F292-1BBD-E807-F5BF3A337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9FE41-235B-79D2-3E2F-DD40F0DA8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44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CEC76-6EB6-4DEE-5634-2DEDA80EA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DCA5E-6275-1135-B76F-E79691DD8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064E-D603-3DF4-F259-106D2B55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3A91-FD5C-B78A-319E-2000A41A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F2049-4B9D-6304-68B1-4AAFA798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75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B018B-1FA9-CA7E-BBF2-FC1A91B5D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C15B3-D059-CA83-C0AE-F534BF40A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239EE-62C0-4B69-61E8-188D06162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12D30-77E7-CA22-D5E0-0BC368B0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62FF7-C38F-7F3D-8865-BD70B172A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B75B0-A99F-2F09-061A-A24BCBE6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440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B9FAB-595E-A5E2-ECBA-0891F846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2BDDB-66F9-395E-C3AF-81322F718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0A17E-B0B6-E0CC-0175-CB0157B15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EE60F-726C-4E7B-FBC8-DCAC9A92D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14199-A688-2F1B-F1B2-A9D7F94B9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50E8DB-070C-82D0-D16A-6492A1568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1070BD-28F3-E682-837D-477F46CD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3BFB5F-23B8-CF9C-16CD-98FAF0E11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998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1FCF-62A7-A8F7-CD72-B093B87E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153D7-5034-B1EF-E4BD-587EA85F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AC0DB-0A1F-4026-AEE4-0D79C955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DB56F-5644-FCB8-E955-E2B52488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60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36BE4-288B-63E4-45B4-C9739644D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67058-A76D-0010-C7A5-1148AFEEA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9150B-2810-AC81-3319-D4788909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63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7DF5-39AD-C2A6-91EB-BA7585F60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FE0A6-9937-97B6-CD22-B75710CD4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62057-9FBE-57E0-BB70-F7D719638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3F3B7-3AB1-BC40-02EC-80BE2E48E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F81E7-E04D-20E0-EA73-9B3F43A36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7EB9D-FADF-0E80-CCAE-22AC12815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06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72C4E-99F8-F8C6-5F37-FDD06AD2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E21DA8-1AFC-6B51-46CC-C07B6AA73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108F7-22B8-5A91-E5DA-D410648B3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E07EB-08F5-DDC2-818E-D0211064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FB26E-7997-2FC5-3157-0184380C8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BCC5F-9BE6-62C2-F971-F7DA7C0C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481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51EF-0FEC-CF27-37B0-96D9DE3F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0B689-B38B-127C-DCFC-A7EF7F4FC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7EE92-7E52-0343-E757-B16FFB06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806B2-FA28-1648-4D75-36771D92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3DD19-11FC-F170-D05E-7BE945EA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95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D049FC-738F-C52D-0C0A-10A91EE27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34D75-A5E7-7CA4-9BC5-56FA987FC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AD75B-E721-7CBD-6744-82ABB7E6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E1752-2C9A-955C-7C7C-C615E3B2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A4DB8-D892-1004-28C4-5C729237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08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87AEDA-A5D6-37AD-9412-46FDB247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73CFB-7E96-8137-6374-687E057F6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B2EE9-3334-8F68-B33D-347C47D64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21526-1504-4634-9FD5-167D39B23D80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AD6B2-014B-4637-E37B-7292F8F00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12BBE-D342-EDB8-BCBE-A5B37AFE6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BB9B2-3A14-4746-88F3-D4541219C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107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11.png"/><Relationship Id="rId3" Type="http://schemas.openxmlformats.org/officeDocument/2006/relationships/image" Target="../media/image6.wmf"/><Relationship Id="rId7" Type="http://schemas.openxmlformats.org/officeDocument/2006/relationships/image" Target="../media/image8.png"/><Relationship Id="rId12" Type="http://schemas.openxmlformats.org/officeDocument/2006/relationships/customXml" Target="../ink/ink9.xml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6.wmf"/><Relationship Id="rId7" Type="http://schemas.openxmlformats.org/officeDocument/2006/relationships/image" Target="../media/image1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13.png"/><Relationship Id="rId4" Type="http://schemas.openxmlformats.org/officeDocument/2006/relationships/customXml" Target="../ink/ink10.xml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DA1FF-C8BA-78D7-D705-8C7332CF5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(Transmission Control Protocol)</a:t>
            </a:r>
            <a:endParaRPr lang="en-IN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88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DC9E2-5F95-33C0-4518-C99AB0AA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TCP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E3431-C8E8-843C-188F-B297F3934FAB}"/>
              </a:ext>
            </a:extLst>
          </p:cNvPr>
          <p:cNvSpPr txBox="1"/>
          <p:nvPr/>
        </p:nvSpPr>
        <p:spPr>
          <a:xfrm>
            <a:off x="838200" y="2615381"/>
            <a:ext cx="5346290" cy="21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49F3D-E3F0-CD01-CE8F-B190645DB970}"/>
              </a:ext>
            </a:extLst>
          </p:cNvPr>
          <p:cNvSpPr txBox="1"/>
          <p:nvPr/>
        </p:nvSpPr>
        <p:spPr>
          <a:xfrm>
            <a:off x="990600" y="2615381"/>
            <a:ext cx="53462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Connection-Oriented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establishes a virtual circuit between two endpoints before data exchange can begin. This connection remains active until the communication is terminated.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D17087-A7B5-B593-E6A6-71E141919D92}"/>
              </a:ext>
            </a:extLst>
          </p:cNvPr>
          <p:cNvSpPr txBox="1"/>
          <p:nvPr/>
        </p:nvSpPr>
        <p:spPr>
          <a:xfrm>
            <a:off x="6336890" y="2615381"/>
            <a:ext cx="53462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Data Transmission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ensures reliable delivery of data packets between devices. It provides error checking, flow control, and congestion management.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4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D1A04-E05F-0883-019E-7A7ACADF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Connection-Oriented vs. Connectionless Transmission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B2609B-F921-AA8E-0D92-CC07AECB3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6213889"/>
              </p:ext>
            </p:extLst>
          </p:nvPr>
        </p:nvGraphicFramePr>
        <p:xfrm>
          <a:off x="1179870" y="1825624"/>
          <a:ext cx="9694608" cy="397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1536">
                  <a:extLst>
                    <a:ext uri="{9D8B030D-6E8A-4147-A177-3AD203B41FA5}">
                      <a16:colId xmlns:a16="http://schemas.microsoft.com/office/drawing/2014/main" val="1761622131"/>
                    </a:ext>
                  </a:extLst>
                </a:gridCol>
                <a:gridCol w="3231536">
                  <a:extLst>
                    <a:ext uri="{9D8B030D-6E8A-4147-A177-3AD203B41FA5}">
                      <a16:colId xmlns:a16="http://schemas.microsoft.com/office/drawing/2014/main" val="2436530888"/>
                    </a:ext>
                  </a:extLst>
                </a:gridCol>
                <a:gridCol w="3231536">
                  <a:extLst>
                    <a:ext uri="{9D8B030D-6E8A-4147-A177-3AD203B41FA5}">
                      <a16:colId xmlns:a16="http://schemas.microsoft.com/office/drawing/2014/main" val="1522903088"/>
                    </a:ext>
                  </a:extLst>
                </a:gridCol>
              </a:tblGrid>
              <a:tr h="495458">
                <a:tc>
                  <a:txBody>
                    <a:bodyPr/>
                    <a:lstStyle/>
                    <a:p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Connection-Oriented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Connectionless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042924"/>
                  </a:ext>
                </a:extLst>
              </a:tr>
              <a:tr h="495458">
                <a:tc>
                  <a:txBody>
                    <a:bodyPr/>
                    <a:lstStyle/>
                    <a:p>
                      <a:r>
                        <a:rPr lang="en-IN" dirty="0"/>
                        <a:t>Handshake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6648551"/>
                  </a:ext>
                </a:extLst>
              </a:tr>
              <a:tr h="855174">
                <a:tc>
                  <a:txBody>
                    <a:bodyPr/>
                    <a:lstStyle/>
                    <a:p>
                      <a:r>
                        <a:rPr lang="en-IN" dirty="0"/>
                        <a:t>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 (Acknowledgments, Retransmission)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Low (No guarantees)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6340225"/>
                  </a:ext>
                </a:extLst>
              </a:tr>
              <a:tr h="495458">
                <a:tc>
                  <a:txBody>
                    <a:bodyPr/>
                    <a:lstStyle/>
                    <a:p>
                      <a:r>
                        <a:rPr lang="en-IN"/>
                        <a:t>Order of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Maintained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No guarantee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497947"/>
                  </a:ext>
                </a:extLst>
              </a:tr>
              <a:tr h="495458">
                <a:tc>
                  <a:txBody>
                    <a:bodyPr/>
                    <a:lstStyle/>
                    <a:p>
                      <a:r>
                        <a:rPr lang="en-IN"/>
                        <a:t>Overhead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826904"/>
                  </a:ext>
                </a:extLst>
              </a:tr>
              <a:tr h="495458">
                <a:tc>
                  <a:txBody>
                    <a:bodyPr/>
                    <a:lstStyle/>
                    <a:p>
                      <a:r>
                        <a:rPr lang="en-IN"/>
                        <a:t>Example Protocols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TCP, SCTP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UDP, ICMP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4447679"/>
                  </a:ext>
                </a:extLst>
              </a:tr>
              <a:tr h="495458">
                <a:tc>
                  <a:txBody>
                    <a:bodyPr/>
                    <a:lstStyle/>
                    <a:p>
                      <a:r>
                        <a:rPr lang="en-IN"/>
                        <a:t>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File transfer, web browsing,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Streaming, VoIP, gaming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2933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F146A6A-C810-A875-2FFB-3D17D3559B1D}"/>
                  </a:ext>
                </a:extLst>
              </p14:cNvPr>
              <p14:cNvContentPartPr/>
              <p14:nvPr/>
            </p14:nvContentPartPr>
            <p14:xfrm>
              <a:off x="1040633" y="4852603"/>
              <a:ext cx="528480" cy="191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F146A6A-C810-A875-2FFB-3D17D3559B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2993" y="4834603"/>
                <a:ext cx="5641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9A1D6FC-57A8-8222-6F43-AAE05BE0E937}"/>
                  </a:ext>
                </a:extLst>
              </p14:cNvPr>
              <p14:cNvContentPartPr/>
              <p14:nvPr/>
            </p14:nvContentPartPr>
            <p14:xfrm>
              <a:off x="1575593" y="4853683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9A1D6FC-57A8-8222-6F43-AAE05BE0E9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7593" y="483604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908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04305-5D9F-D5A2-3B52-729BA4D5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Structure and Header Fields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27E69-FBE4-F38E-0C0D-4A275DD12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0000" lnSpcReduction="20000"/>
          </a:bodyPr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TCP Packet format consists of the following fields: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Port(16 bits)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Destination Port (16 bits)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 Number (32 bits)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Number (32 bits)</a:t>
            </a:r>
            <a:endParaRPr lang="en-IN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Offset (4 bits)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Reserved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Flags (9 bits)</a:t>
            </a:r>
          </a:p>
          <a:p>
            <a:pPr lvl="2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</a:p>
          <a:p>
            <a:pPr lvl="2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  <a:p>
            <a:pPr lvl="2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</a:p>
          <a:p>
            <a:pPr lvl="2"/>
            <a:r>
              <a:rPr lang="en-IN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RST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Window Size (16 bits)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Checksum (16 bits)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Urgent Pointer (16 bits)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Options (Variable length)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Payload</a:t>
            </a:r>
          </a:p>
          <a:p>
            <a:endParaRPr lang="en-IN" dirty="0"/>
          </a:p>
        </p:txBody>
      </p:sp>
      <p:pic>
        <p:nvPicPr>
          <p:cNvPr id="4" name="Content Placeholder 13">
            <a:extLst>
              <a:ext uri="{FF2B5EF4-FFF2-40B4-BE49-F238E27FC236}">
                <a16:creationId xmlns:a16="http://schemas.microsoft.com/office/drawing/2014/main" id="{3EB7B54A-8696-62F2-6DA7-E614D7BC4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809" y="2182762"/>
            <a:ext cx="5639991" cy="37483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17CE00-C06B-B4A5-C2DD-5B0F691A83D8}"/>
                  </a:ext>
                </a:extLst>
              </p14:cNvPr>
              <p14:cNvContentPartPr/>
              <p14:nvPr/>
            </p14:nvContentPartPr>
            <p14:xfrm>
              <a:off x="6047873" y="3982483"/>
              <a:ext cx="2575440" cy="501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17CE00-C06B-B4A5-C2DD-5B0F691A83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29873" y="3964483"/>
                <a:ext cx="2611080" cy="5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D79D1C-155F-2116-5DB3-7BCC6569993A}"/>
                  </a:ext>
                </a:extLst>
              </p14:cNvPr>
              <p14:cNvContentPartPr/>
              <p14:nvPr/>
            </p14:nvContentPartPr>
            <p14:xfrm>
              <a:off x="7131113" y="4740643"/>
              <a:ext cx="803520" cy="615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D79D1C-155F-2116-5DB3-7BCC656999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13473" y="4723003"/>
                <a:ext cx="839160" cy="9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917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6640-5715-021E-5D84-2CE8B2F69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Connection Process (A 3-Way Handshake)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4E90D-F62C-833C-5F17-226D9517F12F}"/>
              </a:ext>
            </a:extLst>
          </p:cNvPr>
          <p:cNvSpPr txBox="1"/>
          <p:nvPr/>
        </p:nvSpPr>
        <p:spPr>
          <a:xfrm>
            <a:off x="7059561" y="1016118"/>
            <a:ext cx="4215581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IP: Client’s IP	       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Port: Client’s 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IP: server’s IP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Port: Server’s 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Flags: SYN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Number: 1000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92EE6-0983-001B-A284-6F84125462F8}"/>
              </a:ext>
            </a:extLst>
          </p:cNvPr>
          <p:cNvSpPr txBox="1"/>
          <p:nvPr/>
        </p:nvSpPr>
        <p:spPr>
          <a:xfrm>
            <a:off x="6366387" y="2770444"/>
            <a:ext cx="4908755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IP: Server’s IP		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SYN-ACK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Port: Server’s 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IP: Client’s IP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Port: Client’s 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Flags: SYN, 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Number: 5000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Number: 1001 (Client’s ISN +1)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1A630-613E-8B43-2CB6-9D1F1DC320EF}"/>
              </a:ext>
            </a:extLst>
          </p:cNvPr>
          <p:cNvSpPr txBox="1"/>
          <p:nvPr/>
        </p:nvSpPr>
        <p:spPr>
          <a:xfrm>
            <a:off x="7059561" y="4801769"/>
            <a:ext cx="4215581" cy="20313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IP: Client’s IP	          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Port: Client’s 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IP: Server’s IP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Port: Server’s Port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Flags: 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Number: 1001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 Number: 5001</a:t>
            </a:r>
            <a:endParaRPr lang="en-IN" dirty="0"/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082F4DE3-CD1E-D615-97CC-28B30964D5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237735"/>
              </p:ext>
            </p:extLst>
          </p:nvPr>
        </p:nvGraphicFramePr>
        <p:xfrm>
          <a:off x="1252999" y="1652775"/>
          <a:ext cx="6064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5000" imgH="1085760" progId="MS_ClipArt_Gallery.2">
                  <p:embed/>
                </p:oleObj>
              </mc:Choice>
              <mc:Fallback>
                <p:oleObj name="Clip" r:id="rId2" imgW="1305000" imgH="1085760" progId="MS_ClipArt_Gallery.2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082F4DE3-CD1E-D615-97CC-28B30964D5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999" y="1652775"/>
                        <a:ext cx="6064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>
            <a:extLst>
              <a:ext uri="{FF2B5EF4-FFF2-40B4-BE49-F238E27FC236}">
                <a16:creationId xmlns:a16="http://schemas.microsoft.com/office/drawing/2014/main" id="{34C30229-8CB2-3F3F-B97F-7EACF7310F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387851"/>
              </p:ext>
            </p:extLst>
          </p:nvPr>
        </p:nvGraphicFramePr>
        <p:xfrm>
          <a:off x="3927372" y="1652775"/>
          <a:ext cx="6064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5000" imgH="1085760" progId="MS_ClipArt_Gallery.2">
                  <p:embed/>
                </p:oleObj>
              </mc:Choice>
              <mc:Fallback>
                <p:oleObj name="Clip" r:id="rId2" imgW="1305000" imgH="1085760" progId="MS_ClipArt_Gallery.2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34C30229-8CB2-3F3F-B97F-7EACF7310F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372" y="1652775"/>
                        <a:ext cx="6064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Line 16">
            <a:extLst>
              <a:ext uri="{FF2B5EF4-FFF2-40B4-BE49-F238E27FC236}">
                <a16:creationId xmlns:a16="http://schemas.microsoft.com/office/drawing/2014/main" id="{7E7976B1-1F23-AA5C-86D2-17A1AE14BD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359743"/>
            <a:ext cx="9832" cy="35396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" name="Line 16">
            <a:extLst>
              <a:ext uri="{FF2B5EF4-FFF2-40B4-BE49-F238E27FC236}">
                <a16:creationId xmlns:a16="http://schemas.microsoft.com/office/drawing/2014/main" id="{1F36F148-AE73-179F-AF0F-EC4950EF1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0500" y="2356136"/>
            <a:ext cx="9832" cy="35396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65255353-724C-41E7-B05E-1037D79CF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3832" y="2576052"/>
            <a:ext cx="2856836" cy="62926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236F9B81-81B7-69D4-A13D-D3B2EED26A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43664" y="3421437"/>
            <a:ext cx="2827340" cy="83574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CE3932F1-3DB2-D35E-D501-E639B11B2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93954" y="4473300"/>
            <a:ext cx="2788012" cy="82987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93068F-D387-BE62-F922-C3964DD0C144}"/>
              </a:ext>
            </a:extLst>
          </p:cNvPr>
          <p:cNvSpPr txBox="1"/>
          <p:nvPr/>
        </p:nvSpPr>
        <p:spPr>
          <a:xfrm>
            <a:off x="2658579" y="2483709"/>
            <a:ext cx="65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SYN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BA0621-19EC-6D82-287E-5501CF1391B3}"/>
              </a:ext>
            </a:extLst>
          </p:cNvPr>
          <p:cNvSpPr txBox="1"/>
          <p:nvPr/>
        </p:nvSpPr>
        <p:spPr>
          <a:xfrm>
            <a:off x="2385128" y="3429000"/>
            <a:ext cx="114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SYN-ACK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F59D8-A182-9375-34F2-3C1DCCB8CF42}"/>
              </a:ext>
            </a:extLst>
          </p:cNvPr>
          <p:cNvSpPr txBox="1"/>
          <p:nvPr/>
        </p:nvSpPr>
        <p:spPr>
          <a:xfrm>
            <a:off x="2661318" y="4490470"/>
            <a:ext cx="65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ACK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B7D9D-0B7A-C7A0-077C-2950B9825147}"/>
              </a:ext>
            </a:extLst>
          </p:cNvPr>
          <p:cNvSpPr txBox="1"/>
          <p:nvPr/>
        </p:nvSpPr>
        <p:spPr>
          <a:xfrm>
            <a:off x="1194619" y="1251988"/>
            <a:ext cx="87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530A05-3C63-10C2-3BD2-9AF50DC1B446}"/>
              </a:ext>
            </a:extLst>
          </p:cNvPr>
          <p:cNvSpPr txBox="1"/>
          <p:nvPr/>
        </p:nvSpPr>
        <p:spPr>
          <a:xfrm>
            <a:off x="3967316" y="1249219"/>
            <a:ext cx="87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CAB6C1-AE60-A947-DA37-C716234122F8}"/>
                  </a:ext>
                </a:extLst>
              </p14:cNvPr>
              <p14:cNvContentPartPr/>
              <p14:nvPr/>
            </p14:nvContentPartPr>
            <p14:xfrm>
              <a:off x="6619193" y="4611763"/>
              <a:ext cx="1931400" cy="105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CAB6C1-AE60-A947-DA37-C716234122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7193" y="4468123"/>
                <a:ext cx="207504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14A584-7299-5FE3-7339-70ED034C3BAA}"/>
                  </a:ext>
                </a:extLst>
              </p14:cNvPr>
              <p14:cNvContentPartPr/>
              <p14:nvPr/>
            </p14:nvContentPartPr>
            <p14:xfrm>
              <a:off x="8557073" y="4627963"/>
              <a:ext cx="2645640" cy="179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14A584-7299-5FE3-7339-70ED034C3B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85073" y="4484323"/>
                <a:ext cx="278928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892A8E8-EE17-865D-A495-0AA70901A652}"/>
                  </a:ext>
                </a:extLst>
              </p14:cNvPr>
              <p14:cNvContentPartPr/>
              <p14:nvPr/>
            </p14:nvContentPartPr>
            <p14:xfrm>
              <a:off x="7274753" y="6089923"/>
              <a:ext cx="931680" cy="151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892A8E8-EE17-865D-A495-0AA70901A6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02753" y="5946283"/>
                <a:ext cx="107532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7766F52-42CD-1DDB-EC1A-E1DF730CBD78}"/>
                  </a:ext>
                </a:extLst>
              </p14:cNvPr>
              <p14:cNvContentPartPr/>
              <p14:nvPr/>
            </p14:nvContentPartPr>
            <p14:xfrm>
              <a:off x="7240193" y="6370723"/>
              <a:ext cx="2198520" cy="71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7766F52-42CD-1DDB-EC1A-E1DF730CBD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68553" y="6227083"/>
                <a:ext cx="234216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10EB5EF-7F18-DF0C-7D63-B6C54B0ED488}"/>
                  </a:ext>
                </a:extLst>
              </p14:cNvPr>
              <p14:cNvContentPartPr/>
              <p14:nvPr/>
            </p14:nvContentPartPr>
            <p14:xfrm>
              <a:off x="7309313" y="6613363"/>
              <a:ext cx="2919600" cy="57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10EB5EF-7F18-DF0C-7D63-B6C54B0ED48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37673" y="6469363"/>
                <a:ext cx="3063240" cy="34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642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A6B5A-10A3-BCB8-B8E8-30FB254A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Round-Trip Time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9D0AD-9C55-910B-88A5-AB5D6CEE030A}"/>
              </a:ext>
            </a:extLst>
          </p:cNvPr>
          <p:cNvSpPr txBox="1"/>
          <p:nvPr/>
        </p:nvSpPr>
        <p:spPr>
          <a:xfrm>
            <a:off x="540774" y="2035276"/>
            <a:ext cx="294967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Sent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packet is sent from the sender to the receiver.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52799-90CB-F333-B4EB-CC526C504EC0}"/>
              </a:ext>
            </a:extLst>
          </p:cNvPr>
          <p:cNvSpPr txBox="1"/>
          <p:nvPr/>
        </p:nvSpPr>
        <p:spPr>
          <a:xfrm>
            <a:off x="4946619" y="2035276"/>
            <a:ext cx="26438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Packet Received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receives the packet.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F6879B-670D-639D-5E07-140A1DE1E87F}"/>
              </a:ext>
            </a:extLst>
          </p:cNvPr>
          <p:cNvSpPr txBox="1"/>
          <p:nvPr/>
        </p:nvSpPr>
        <p:spPr>
          <a:xfrm>
            <a:off x="551599" y="3826414"/>
            <a:ext cx="294967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 Sent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sends an acknowledgment back to the sender.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996B2-774B-2D5F-19E6-54DAE8DF8E0F}"/>
              </a:ext>
            </a:extLst>
          </p:cNvPr>
          <p:cNvSpPr txBox="1"/>
          <p:nvPr/>
        </p:nvSpPr>
        <p:spPr>
          <a:xfrm>
            <a:off x="5078361" y="3826414"/>
            <a:ext cx="251214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RTT Calculated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elapsed from sending the packet to receiving the acknowledgment is the RTT.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AF83EB-9527-C99D-3FA9-CF248A3A1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1" y="190669"/>
            <a:ext cx="3500284" cy="444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3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9A31F-2E8C-1FFA-47C7-37594E16E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Acknowledgment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8F7A2-C3C0-A2AF-9FBE-DFBA0416B1C7}"/>
              </a:ext>
            </a:extLst>
          </p:cNvPr>
          <p:cNvSpPr txBox="1"/>
          <p:nvPr/>
        </p:nvSpPr>
        <p:spPr>
          <a:xfrm>
            <a:off x="1189703" y="2143432"/>
            <a:ext cx="4129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Delivery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ensures data arrives in order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FD45A-945C-828D-B86F-B34295BBB1D6}"/>
              </a:ext>
            </a:extLst>
          </p:cNvPr>
          <p:cNvSpPr txBox="1"/>
          <p:nvPr/>
        </p:nvSpPr>
        <p:spPr>
          <a:xfrm>
            <a:off x="1189702" y="3429000"/>
            <a:ext cx="41295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Acknowledgements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receiver acknowledges receipt of all data up to the highest received sequence number.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 Number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Last Received Sequence Number + Data Size</a:t>
            </a:r>
          </a:p>
          <a:p>
            <a:endParaRPr lang="en-IN" dirty="0"/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E89DB6A9-61A8-E618-7AFB-0D5365FA07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562223"/>
              </p:ext>
            </p:extLst>
          </p:nvPr>
        </p:nvGraphicFramePr>
        <p:xfrm>
          <a:off x="7673463" y="1838326"/>
          <a:ext cx="6064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5000" imgH="1085760" progId="MS_ClipArt_Gallery.2">
                  <p:embed/>
                </p:oleObj>
              </mc:Choice>
              <mc:Fallback>
                <p:oleObj name="Clip" r:id="rId2" imgW="1305000" imgH="1085760" progId="MS_ClipArt_Gallery.2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E89DB6A9-61A8-E618-7AFB-0D5365FA07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3463" y="1838326"/>
                        <a:ext cx="6064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C0E8558-34A5-8B52-03F8-F68BC2DD98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463920"/>
              </p:ext>
            </p:extLst>
          </p:nvPr>
        </p:nvGraphicFramePr>
        <p:xfrm>
          <a:off x="10330886" y="1838326"/>
          <a:ext cx="60642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5000" imgH="1085760" progId="MS_ClipArt_Gallery.2">
                  <p:embed/>
                </p:oleObj>
              </mc:Choice>
              <mc:Fallback>
                <p:oleObj name="Clip" r:id="rId2" imgW="1305000" imgH="1085760" progId="MS_ClipArt_Gallery.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4C0E8558-34A5-8B52-03F8-F68BC2DD98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0886" y="1838326"/>
                        <a:ext cx="60642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Line 16">
            <a:extLst>
              <a:ext uri="{FF2B5EF4-FFF2-40B4-BE49-F238E27FC236}">
                <a16:creationId xmlns:a16="http://schemas.microsoft.com/office/drawing/2014/main" id="{5C29F396-432F-3909-A139-2DC8B4DB7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6675" y="2319338"/>
            <a:ext cx="9832" cy="35396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538DCD46-D091-B24C-F83F-4346B47C88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43930" y="2319338"/>
            <a:ext cx="9832" cy="35396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" name="Line 16">
            <a:extLst>
              <a:ext uri="{FF2B5EF4-FFF2-40B4-BE49-F238E27FC236}">
                <a16:creationId xmlns:a16="http://schemas.microsoft.com/office/drawing/2014/main" id="{20EFCAEA-1B60-C66B-44FF-9700A2D36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507" y="2605097"/>
            <a:ext cx="2657423" cy="57072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Line 16">
            <a:extLst>
              <a:ext uri="{FF2B5EF4-FFF2-40B4-BE49-F238E27FC236}">
                <a16:creationId xmlns:a16="http://schemas.microsoft.com/office/drawing/2014/main" id="{3F44B68B-D1A7-205A-1C0F-F75F6936FE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6339" y="2948947"/>
            <a:ext cx="2657423" cy="57072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" name="Line 16">
            <a:extLst>
              <a:ext uri="{FF2B5EF4-FFF2-40B4-BE49-F238E27FC236}">
                <a16:creationId xmlns:a16="http://schemas.microsoft.com/office/drawing/2014/main" id="{9228B9F8-499C-F2A7-32C5-DEC5AFF02F6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6506" y="3315538"/>
            <a:ext cx="2657423" cy="57072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DC2A820B-60AE-7DE2-775F-A6FFAEB92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6339" y="3678803"/>
            <a:ext cx="2657423" cy="57072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0B9AE3C1-F59D-FE5F-8618-8496FF4A0A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6842" y="4547765"/>
            <a:ext cx="2677087" cy="4810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A0948-EECA-4BCF-C3AD-7C3B621B3D06}"/>
              </a:ext>
            </a:extLst>
          </p:cNvPr>
          <p:cNvSpPr txBox="1"/>
          <p:nvPr/>
        </p:nvSpPr>
        <p:spPr>
          <a:xfrm>
            <a:off x="7556345" y="1434588"/>
            <a:ext cx="87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2E3D2E-1D51-E549-354C-EC742E899173}"/>
              </a:ext>
            </a:extLst>
          </p:cNvPr>
          <p:cNvSpPr txBox="1"/>
          <p:nvPr/>
        </p:nvSpPr>
        <p:spPr>
          <a:xfrm>
            <a:off x="10213768" y="1399135"/>
            <a:ext cx="87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4E53B3-68B4-D679-36BC-8135FE2D7B94}"/>
                  </a:ext>
                </a:extLst>
              </p14:cNvPr>
              <p14:cNvContentPartPr/>
              <p14:nvPr/>
            </p14:nvContentPartPr>
            <p14:xfrm>
              <a:off x="1420433" y="4738483"/>
              <a:ext cx="3588840" cy="98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4E53B3-68B4-D679-36BC-8135FE2D7B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8433" y="4594843"/>
                <a:ext cx="37324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B545DB8-9864-0503-DFAD-7AC1854E85E4}"/>
                  </a:ext>
                </a:extLst>
              </p14:cNvPr>
              <p14:cNvContentPartPr/>
              <p14:nvPr/>
            </p14:nvContentPartPr>
            <p14:xfrm>
              <a:off x="1425833" y="5020363"/>
              <a:ext cx="1710000" cy="500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B545DB8-9864-0503-DFAD-7AC1854E85E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4193" y="4876363"/>
                <a:ext cx="18536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EB79BF8-6E2C-0FDC-A3E4-D953138FD7B9}"/>
                  </a:ext>
                </a:extLst>
              </p14:cNvPr>
              <p14:cNvContentPartPr/>
              <p14:nvPr/>
            </p14:nvContentPartPr>
            <p14:xfrm>
              <a:off x="1379753" y="2317123"/>
              <a:ext cx="1883880" cy="741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EB79BF8-6E2C-0FDC-A3E4-D953138FD7B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08113" y="2173123"/>
                <a:ext cx="2027520" cy="36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054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C813-2815-39C5-A30B-E354B6A0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Termination Process (A 4-Way Handshake)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27DCC236-2F00-0B49-D309-C7026D320E9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583183"/>
              </p:ext>
            </p:extLst>
          </p:nvPr>
        </p:nvGraphicFramePr>
        <p:xfrm>
          <a:off x="1129168" y="2004670"/>
          <a:ext cx="602059" cy="500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5000" imgH="1085760" progId="MS_ClipArt_Gallery.2">
                  <p:embed/>
                </p:oleObj>
              </mc:Choice>
              <mc:Fallback>
                <p:oleObj name="Clip" r:id="rId2" imgW="1305000" imgH="1085760" progId="MS_ClipArt_Gallery.2">
                  <p:embed/>
                  <p:pic>
                    <p:nvPicPr>
                      <p:cNvPr id="4" name="Object 6">
                        <a:extLst>
                          <a:ext uri="{FF2B5EF4-FFF2-40B4-BE49-F238E27FC236}">
                            <a16:creationId xmlns:a16="http://schemas.microsoft.com/office/drawing/2014/main" id="{27DCC236-2F00-0B49-D309-C7026D320E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168" y="2004670"/>
                        <a:ext cx="602059" cy="500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675E75CB-CD11-6F2E-C8D5-F8E47A2F7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598049"/>
              </p:ext>
            </p:extLst>
          </p:nvPr>
        </p:nvGraphicFramePr>
        <p:xfrm>
          <a:off x="3575111" y="1998255"/>
          <a:ext cx="602059" cy="500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1305000" imgH="1085760" progId="MS_ClipArt_Gallery.2">
                  <p:embed/>
                </p:oleObj>
              </mc:Choice>
              <mc:Fallback>
                <p:oleObj name="Clip" r:id="rId2" imgW="1305000" imgH="1085760" progId="MS_ClipArt_Gallery.2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675E75CB-CD11-6F2E-C8D5-F8E47A2F76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111" y="1998255"/>
                        <a:ext cx="602059" cy="500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Line 16">
            <a:extLst>
              <a:ext uri="{FF2B5EF4-FFF2-40B4-BE49-F238E27FC236}">
                <a16:creationId xmlns:a16="http://schemas.microsoft.com/office/drawing/2014/main" id="{3E4B1AE9-D870-A5DB-11F3-94C5119376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0198" y="2597487"/>
            <a:ext cx="9832" cy="353961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" name="Line 16">
            <a:extLst>
              <a:ext uri="{FF2B5EF4-FFF2-40B4-BE49-F238E27FC236}">
                <a16:creationId xmlns:a16="http://schemas.microsoft.com/office/drawing/2014/main" id="{E9A52CDB-5CA7-022B-BA00-76C53296B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6142" y="2597487"/>
            <a:ext cx="29496" cy="3474129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" name="Line 16">
            <a:extLst>
              <a:ext uri="{FF2B5EF4-FFF2-40B4-BE49-F238E27FC236}">
                <a16:creationId xmlns:a16="http://schemas.microsoft.com/office/drawing/2014/main" id="{E16FF150-3048-790D-A7E7-981FE07DF17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9694" y="2788920"/>
            <a:ext cx="2406616" cy="42062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DBD5EBFA-CAAE-98F8-0162-C1922954A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9526" y="5055844"/>
            <a:ext cx="2377120" cy="44884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" name="Line 16">
            <a:extLst>
              <a:ext uri="{FF2B5EF4-FFF2-40B4-BE49-F238E27FC236}">
                <a16:creationId xmlns:a16="http://schemas.microsoft.com/office/drawing/2014/main" id="{DDF7C8E4-D5D9-F4A3-68E7-86FDF4CC22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59694" y="3492811"/>
            <a:ext cx="2416448" cy="667709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Line 16">
            <a:extLst>
              <a:ext uri="{FF2B5EF4-FFF2-40B4-BE49-F238E27FC236}">
                <a16:creationId xmlns:a16="http://schemas.microsoft.com/office/drawing/2014/main" id="{E6AB8C74-14CB-1840-2B6B-63442E8D8A7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79358" y="4104868"/>
            <a:ext cx="2347624" cy="667709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CB7252-019F-7081-BA8D-C958D4B593A8}"/>
              </a:ext>
            </a:extLst>
          </p:cNvPr>
          <p:cNvSpPr txBox="1"/>
          <p:nvPr/>
        </p:nvSpPr>
        <p:spPr>
          <a:xfrm>
            <a:off x="1019700" y="1589421"/>
            <a:ext cx="87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EC3C65-9363-8740-91E0-1B0B35DFA7A6}"/>
              </a:ext>
            </a:extLst>
          </p:cNvPr>
          <p:cNvSpPr txBox="1"/>
          <p:nvPr/>
        </p:nvSpPr>
        <p:spPr>
          <a:xfrm>
            <a:off x="3436146" y="1582160"/>
            <a:ext cx="879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C6800E-60F5-D953-E424-03671AAAE350}"/>
              </a:ext>
            </a:extLst>
          </p:cNvPr>
          <p:cNvSpPr txBox="1"/>
          <p:nvPr/>
        </p:nvSpPr>
        <p:spPr>
          <a:xfrm>
            <a:off x="2469294" y="4964143"/>
            <a:ext cx="65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ACK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22BCDC-FF02-0FFB-B83F-F8E97690D29B}"/>
              </a:ext>
            </a:extLst>
          </p:cNvPr>
          <p:cNvSpPr txBox="1"/>
          <p:nvPr/>
        </p:nvSpPr>
        <p:spPr>
          <a:xfrm>
            <a:off x="2469293" y="4069390"/>
            <a:ext cx="65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FIN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C37916-EBC8-8D42-C743-71197B5B12C5}"/>
              </a:ext>
            </a:extLst>
          </p:cNvPr>
          <p:cNvSpPr txBox="1"/>
          <p:nvPr/>
        </p:nvSpPr>
        <p:spPr>
          <a:xfrm>
            <a:off x="2469293" y="3419575"/>
            <a:ext cx="65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ACK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6DB0C-57E4-2BD4-B164-39C51D591933}"/>
              </a:ext>
            </a:extLst>
          </p:cNvPr>
          <p:cNvSpPr txBox="1"/>
          <p:nvPr/>
        </p:nvSpPr>
        <p:spPr>
          <a:xfrm>
            <a:off x="2469292" y="2561188"/>
            <a:ext cx="658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FIN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0E470D-4198-05ED-4286-FDD845A127A0}"/>
              </a:ext>
            </a:extLst>
          </p:cNvPr>
          <p:cNvSpPr txBox="1"/>
          <p:nvPr/>
        </p:nvSpPr>
        <p:spPr>
          <a:xfrm>
            <a:off x="5646770" y="3167390"/>
            <a:ext cx="4987702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</a:rPr>
              <a:t>Step:1</a:t>
            </a:r>
          </a:p>
          <a:p>
            <a:r>
              <a:rPr lang="en-US" altLang="en-US" sz="1400" dirty="0">
                <a:solidFill>
                  <a:schemeClr val="accent2"/>
                </a:solidFill>
              </a:rPr>
              <a:t>The client</a:t>
            </a:r>
            <a:r>
              <a:rPr lang="en-US" altLang="en-US" sz="1400" dirty="0"/>
              <a:t> system sends the TCP FIN control segment to the server.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A7A380-E03D-3BC2-DEEA-C4FAAF39DFA9}"/>
              </a:ext>
            </a:extLst>
          </p:cNvPr>
          <p:cNvSpPr txBox="1"/>
          <p:nvPr/>
        </p:nvSpPr>
        <p:spPr>
          <a:xfrm>
            <a:off x="5646770" y="3685061"/>
            <a:ext cx="4987702" cy="73866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1400" b="1" dirty="0">
                <a:solidFill>
                  <a:schemeClr val="accent2"/>
                </a:solidFill>
              </a:rPr>
              <a:t>Step:2</a:t>
            </a:r>
          </a:p>
          <a:p>
            <a:r>
              <a:rPr lang="en-US" altLang="en-US" sz="1400" dirty="0">
                <a:solidFill>
                  <a:schemeClr val="accent2"/>
                </a:solidFill>
              </a:rPr>
              <a:t>The server receives FIN and </a:t>
            </a:r>
            <a:r>
              <a:rPr lang="en-US" altLang="en-US" sz="1400" dirty="0"/>
              <a:t>replies with ACK. Closes connection, sends FIN.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62CFB7-636A-0E96-7A29-55A9F0B1C709}"/>
                  </a:ext>
                </a:extLst>
              </p14:cNvPr>
              <p14:cNvContentPartPr/>
              <p14:nvPr/>
            </p14:nvContentPartPr>
            <p14:xfrm>
              <a:off x="2214233" y="4733083"/>
              <a:ext cx="1101960" cy="649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62CFB7-636A-0E96-7A29-55A9F0B1C7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6233" y="4715083"/>
                <a:ext cx="1137600" cy="68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6957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88A3-7C4A-5E33-CBCB-2E29BA9E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(Round-Trip Time)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DEDD6-23F3-C3C5-58E4-FE34F4D38A06}"/>
              </a:ext>
            </a:extLst>
          </p:cNvPr>
          <p:cNvSpPr txBox="1"/>
          <p:nvPr/>
        </p:nvSpPr>
        <p:spPr>
          <a:xfrm>
            <a:off x="934065" y="1976284"/>
            <a:ext cx="5161935" cy="953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RTT is the time it takes for a signal to travel from a source to a destination and back again.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78DED-57F4-1156-0FD7-4F1D7CA78864}"/>
              </a:ext>
            </a:extLst>
          </p:cNvPr>
          <p:cNvSpPr txBox="1"/>
          <p:nvPr/>
        </p:nvSpPr>
        <p:spPr>
          <a:xfrm>
            <a:off x="934065" y="2930013"/>
            <a:ext cx="6096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RTT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RTT is the measured round-trip time for a single packet.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RTT = ACK Reception Time - Packet Sent 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7C0C4-5767-7F6D-B500-77C98E29E680}"/>
              </a:ext>
            </a:extLst>
          </p:cNvPr>
          <p:cNvSpPr txBox="1"/>
          <p:nvPr/>
        </p:nvSpPr>
        <p:spPr>
          <a:xfrm>
            <a:off x="934065" y="4130342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RTT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RTT varies due to network conditions.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RTT provides a smoother value.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RTT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(1 -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α) *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RTT +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*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RTT</a:t>
            </a:r>
          </a:p>
          <a:p>
            <a:endParaRPr lang="en-US" dirty="0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CFBFC3EE-3172-EED1-D67E-EF3A2AFF6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607" y="547604"/>
            <a:ext cx="5351985" cy="3663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54115A-6930-D98C-CD4B-D78D152E8916}"/>
                  </a:ext>
                </a:extLst>
              </p14:cNvPr>
              <p14:cNvContentPartPr/>
              <p14:nvPr/>
            </p14:nvContentPartPr>
            <p14:xfrm>
              <a:off x="1017593" y="4528243"/>
              <a:ext cx="4327560" cy="440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54115A-6930-D98C-CD4B-D78D152E89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5953" y="4384243"/>
                <a:ext cx="4471200" cy="72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3390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663A4E60B23240A00B90F2213B2739" ma:contentTypeVersion="3" ma:contentTypeDescription="Create a new document." ma:contentTypeScope="" ma:versionID="6e5b734c362a73f2924470fd1a828ef9">
  <xsd:schema xmlns:xsd="http://www.w3.org/2001/XMLSchema" xmlns:xs="http://www.w3.org/2001/XMLSchema" xmlns:p="http://schemas.microsoft.com/office/2006/metadata/properties" xmlns:ns2="b9cf2746-540d-4e5b-8846-ebb93da0bc06" targetNamespace="http://schemas.microsoft.com/office/2006/metadata/properties" ma:root="true" ma:fieldsID="2fa366b61f950d3c1f2099978aa6c853" ns2:_="">
    <xsd:import namespace="b9cf2746-540d-4e5b-8846-ebb93da0b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f2746-540d-4e5b-8846-ebb93da0bc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5C12D3E-4099-40C0-B45B-9BE028CFEC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cf2746-540d-4e5b-8846-ebb93da0b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48C23DD-B45C-4DE8-8A03-AF5BD248E4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FCB54D-2A1A-4D65-80EA-AAF5B482FE4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547</Words>
  <Application>Microsoft Office PowerPoint</Application>
  <PresentationFormat>Widescreen</PresentationFormat>
  <Paragraphs>114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Clip</vt:lpstr>
      <vt:lpstr>TCP  (Transmission Control Protocol)</vt:lpstr>
      <vt:lpstr>Introduction to TCP </vt:lpstr>
      <vt:lpstr>Connection-Oriented vs. Connectionless Transmission </vt:lpstr>
      <vt:lpstr>Packet Structure and Header Fields </vt:lpstr>
      <vt:lpstr>TCP Connection Process (A 3-Way Handshake) </vt:lpstr>
      <vt:lpstr>Calculating Round-Trip Time</vt:lpstr>
      <vt:lpstr>Cumulative Acknowledgment</vt:lpstr>
      <vt:lpstr>TCP Termination Process (A 4-Way Handshake)</vt:lpstr>
      <vt:lpstr>RTT(Round-Trip Time)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Ayush Panda</cp:lastModifiedBy>
  <cp:revision>35</cp:revision>
  <dcterms:created xsi:type="dcterms:W3CDTF">2025-01-30T01:51:24Z</dcterms:created>
  <dcterms:modified xsi:type="dcterms:W3CDTF">2026-02-12T16:38:54Z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0x01010083663A4E60B23240A00B90F2213B2739</vt:lpwstr>
  </property>
</Properties>
</file>